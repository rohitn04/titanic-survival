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D6F9F83-9F75-47FE-9AE0-0BED4067A19E}">
  <a:tblStyle styleId="{6D6F9F83-9F75-47FE-9AE0-0BED4067A1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2926080"/>
            <a:ext cx="12191695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🚢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Titanic Survival Prediction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71600" y="32004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Machine Learning Classification Model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41148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Python  •  scikit-learn  •  Pipeline  •  GridSearchCV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 / 7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Problem &amp; Dataset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31520" y="137160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5840" y="1325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5840" y="182880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Predict whether a Titanic passenger survived or died based on passenger attributes.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Type: Binary Classification (Survived: 0 or 1)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Dataset: Kaggle Titanic — 891 passengers × 12 features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Imbalance: 38% survived, 62% died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Accuracy alone is insufficient; need multiple metrics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31520" y="1371600"/>
            <a:ext cx="73152" cy="45720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400800" y="13258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Key Features</a:t>
            </a:r>
            <a:endParaRPr/>
          </a:p>
        </p:txBody>
      </p:sp>
      <p:graphicFrame>
        <p:nvGraphicFramePr>
          <p:cNvPr id="101" name="Google Shape;101;p14"/>
          <p:cNvGraphicFramePr/>
          <p:nvPr/>
        </p:nvGraphicFramePr>
        <p:xfrm>
          <a:off x="640080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{6D6F9F83-9F75-47FE-9AE0-0BED4067A19E}</a:tableStyleId>
              </a:tblPr>
              <a:tblGrid>
                <a:gridCol w="1676400"/>
                <a:gridCol w="1676400"/>
                <a:gridCol w="1676400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Pclass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rgbClr val="E2E8F0"/>
                          </a:solidFill>
                        </a:rPr>
                        <a:t>Categorical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Passenger class (1st/2nd/3rd)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Gender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in years (20% missing)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 fare paid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SibSp / Parch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Discrete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Family onboard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Embarked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 (S / C / Q)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Categorical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Cabin (77% missing → dropped)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02" name="Google Shape;102;p1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Exploratory Data Analysis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Missing Data Strategy</a:t>
            </a:r>
            <a:endParaRPr/>
          </a:p>
        </p:txBody>
      </p:sp>
      <p:graphicFrame>
        <p:nvGraphicFramePr>
          <p:cNvPr id="110" name="Google Shape;110;p15"/>
          <p:cNvGraphicFramePr/>
          <p:nvPr/>
        </p:nvGraphicFramePr>
        <p:xfrm>
          <a:off x="7315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{6D6F9F83-9F75-47FE-9AE0-0BED4067A19E}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Rationale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Cabin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~77%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Dropped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Too much missing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Robust to skewed distribution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Embarked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~0.2%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Clear majority (Southampton)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11" name="Google Shape;111;p15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Key Survival Patterns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Females ~74% survival vs Males ~19%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1st class ~63% vs 3rd class ~24%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Children had significantly higher survival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Cherbourg port → higher survival (more 1st class)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Family size 2–4 had best survival odds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Analyses Performed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31520" y="4663440"/>
            <a:ext cx="10972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Missing data visualization (bar chart with severity coloring)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Survival rate by Sex, Class, Age, Embarked (count plots &amp; histograms)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 correlation heatmap (identify multicollinearity)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Target variable imbalance analysis (pie chart + counts)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Feature Engineering &amp; Pipeline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Engineered Features</a:t>
            </a:r>
            <a:endParaRPr/>
          </a:p>
        </p:txBody>
      </p:sp>
      <p:graphicFrame>
        <p:nvGraphicFramePr>
          <p:cNvPr id="123" name="Google Shape;123;p16"/>
          <p:cNvGraphicFramePr/>
          <p:nvPr/>
        </p:nvGraphicFramePr>
        <p:xfrm>
          <a:off x="731520" y="1828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{6D6F9F83-9F75-47FE-9AE0-0BED4067A19E}</a:tableStyleId>
              </a:tblPr>
              <a:tblGrid>
                <a:gridCol w="2514600"/>
                <a:gridCol w="2514600"/>
              </a:tblGrid>
              <a:tr h="3918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Method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FamilySize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SibSp + Parch + 1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IsAlone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if FamilySize ==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Extracted from Name (Mr/Mrs/Miss/Master/Rare)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FarePerPerson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Fare ÷ FamilySize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91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FareGroup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Quartile binning (Low/Med/High/VeryHigh)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9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TicketGroupSize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Count of passengers sharing ticket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16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Preprocessing Pipeline</a:t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6400800" y="182880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Pipeline([</a:t>
            </a:r>
            <a:endParaRPr/>
          </a:p>
          <a:p>
            <a:pPr indent="0" lvl="0" marL="0" marR="0" rtl="0" algn="l"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  ColumnTransformer([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    ('num', StandardScaler, numeric_cols),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    ('cat', OneHotEncoder(drop='first'),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categorical_cols)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  ]),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  ('classifier', Model)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400800" y="45720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StandardScaler → zero mean, unit variance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OneHotEncoder(drop='first') → avoids multicollinearity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Pipeline prevents data leakage (fit on train only)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Model Selection &amp; Results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31520" y="10058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models trained using GridSearchCV with 5-fold cross-validation for hyperparameter tuning.</a:t>
            </a:r>
            <a:endParaRPr/>
          </a:p>
        </p:txBody>
      </p:sp>
      <p:graphicFrame>
        <p:nvGraphicFramePr>
          <p:cNvPr id="135" name="Google Shape;135;p17"/>
          <p:cNvGraphicFramePr/>
          <p:nvPr/>
        </p:nvGraphicFramePr>
        <p:xfrm>
          <a:off x="73152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{6D6F9F83-9F75-47FE-9AE0-0BED4067A19E}</a:tableStyleId>
              </a:tblPr>
              <a:tblGrid>
                <a:gridCol w="1528350"/>
                <a:gridCol w="1528350"/>
                <a:gridCol w="1528350"/>
                <a:gridCol w="1528350"/>
                <a:gridCol w="1528350"/>
                <a:gridCol w="1528350"/>
                <a:gridCol w="15283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Test Accuracy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ROC-AUC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10-Fold CV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Logistic Regression 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0.82 ± 0.04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4E63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Decision Tree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0.80 ± 0.05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0.81 ± 0.04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36" name="Google Shape;136;p17"/>
          <p:cNvSpPr/>
          <p:nvPr/>
        </p:nvSpPr>
        <p:spPr>
          <a:xfrm>
            <a:off x="1371600" y="4114800"/>
            <a:ext cx="2743200" cy="1828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Accuracy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029200" y="4114800"/>
            <a:ext cx="2743200" cy="1828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ROC-AUC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0.88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8686800" y="4114800"/>
            <a:ext cx="2743200" cy="18288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Overfitting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Train ≈ Test ≈ CV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Confusion Matrix (Best Model)</a:t>
            </a:r>
            <a:endParaRPr/>
          </a:p>
        </p:txBody>
      </p:sp>
      <p:graphicFrame>
        <p:nvGraphicFramePr>
          <p:cNvPr id="147" name="Google Shape;147;p18"/>
          <p:cNvGraphicFramePr/>
          <p:nvPr/>
        </p:nvGraphicFramePr>
        <p:xfrm>
          <a:off x="731520" y="1737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{6D6F9F83-9F75-47FE-9AE0-0BED4067A19E}</a:tableStyleId>
              </a:tblPr>
              <a:tblGrid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 u="none" cap="none" strike="noStrike">
                        <a:solidFill>
                          <a:srgbClr val="E2E8F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Pred: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Pred: 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6653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Actual: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~200 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Actual: 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~34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~103 ✓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48" name="Google Shape;148;p18"/>
          <p:cNvSpPr txBox="1"/>
          <p:nvPr/>
        </p:nvSpPr>
        <p:spPr>
          <a:xfrm>
            <a:off x="731520" y="33832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Why Multiple Metrics?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31520" y="384048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Accuracy — overall correctness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Precision — "of predicted survivors, how many actually survived?"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Recall — "of actual survivors, how many did we find?"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F1-Score — harmonic mean of Precision &amp; Recall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ROC-AUC — model's discrimination ability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Cross-Validation &amp; Overfitting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6400800" y="173736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10-Fold Cross-Validation ensures generalization.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Small Train/Test accuracy gap → low overfitting risk.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400800" y="3200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Top Features (Random Forest)</a:t>
            </a:r>
            <a:endParaRPr/>
          </a:p>
        </p:txBody>
      </p:sp>
      <p:graphicFrame>
        <p:nvGraphicFramePr>
          <p:cNvPr id="153" name="Google Shape;153;p18"/>
          <p:cNvGraphicFramePr/>
          <p:nvPr/>
        </p:nvGraphicFramePr>
        <p:xfrm>
          <a:off x="6400800" y="3657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{6D6F9F83-9F75-47FE-9AE0-0BED4067A19E}</a:tableStyleId>
              </a:tblPr>
              <a:tblGrid>
                <a:gridCol w="1676400"/>
                <a:gridCol w="1676400"/>
                <a:gridCol w="16764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Importance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B82F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Sex (male)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Very 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Title (Mr)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Medium-High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Pclass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FamilySize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E2E8F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154" name="Google Shape;154;p18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6 / 7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31520" y="1737360"/>
            <a:ext cx="5029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Gender was the strongest survival predictor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Socio-economic status (Class, Fare) significantly influenced survival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Feature engineering (Title, FamilySize, FareGroup) improved performance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All models achieved ~85% accuracy with low overfitting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Pipeline architecture ensures reproducibility &amp; prevents data leakage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31520" y="43891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31520" y="4846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 •  pandas  •  scikit-learn  •  seaborn  •  matplotlib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6400800" y="11887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400800" y="173736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E2E8F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Ensemble methods (Gradient Boosting, XGBoost)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Advanced feature selection (SHAP values)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Hyperparameter tuning with RandomizedSearchCV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Handle class imbalance (SMOTE)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6400800" y="411480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Titanic Survival Prediction — ML Modeling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Rohit Narwal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7 / 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